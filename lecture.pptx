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15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Containerization and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Computing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2880360"/>
            <a:ext cx="18288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for Data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·  Google Cloud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291840"/>
            <a:ext cx="548640" cy="548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291840"/>
            <a:ext cx="548640" cy="54864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931920"/>
            <a:ext cx="548640" cy="54864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9319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– 0:10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1247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3464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Problem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804672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0:10 – 0:55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6733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346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from the Ground Up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3152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0:55 – 1:25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222199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3464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Computing Fundamentals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731520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1:25 – 1:35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83464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3152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1:35 – 2:15</a:t>
            </a:r>
            <a:endParaRPr lang="en-US" sz="11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3192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83464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with Kubernetes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3152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2:15 – 2:45</a:t>
            </a:r>
            <a:endParaRPr lang="en-US" sz="11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0" y="3867912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83464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Alternatives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73152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2:45 – 3:00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7440" y="4416552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83464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Lab Preview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Deployment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201168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Scenario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data pipeline uses pandas, scikit-learn, and GDAL for geospatial processing. It runs on your laptop. Your teammate clones the repo…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3840480" cy="2011680"/>
          </a:xfrm>
          <a:prstGeom prst="rect">
            <a:avLst/>
          </a:prstGeom>
          <a:solidFill>
            <a:srgbClr val="2D1520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Breaks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83480" y="16916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Python version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system libraries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GDAL installation</a:t>
            </a:r>
            <a:endParaRPr lang="en-US" sz="12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multiply × 12 analysts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20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 solve this.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71600" y="38404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code, dependencies, and runtime into a single artifact that runs identically everywhere. For data analytics, this means frozen library versions where BLAS linkage and CUDA bindings won’t silently produce wrong results on a different machine.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Containerization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layers, Dockerfiles, and registries — 45 minutes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8404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 vs. Virtual Machines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Machine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371600"/>
            <a:ext cx="155448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719072"/>
            <a:ext cx="1554480" cy="256032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719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371600"/>
            <a:ext cx="155448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1719072"/>
            <a:ext cx="1554480" cy="2560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1719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2029968"/>
            <a:ext cx="320040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0299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+ Kernel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2468880"/>
            <a:ext cx="3200400" cy="32004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2834640"/>
            <a:ext cx="3200400" cy="34747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2834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+ Kernel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3218688"/>
            <a:ext cx="3200400" cy="29260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218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1371600"/>
            <a:ext cx="155448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7492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1719072"/>
            <a:ext cx="1554480" cy="256032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4920" y="1719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20840" y="1371600"/>
            <a:ext cx="1554480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2084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0840" y="1719072"/>
            <a:ext cx="1554480" cy="25603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20840" y="17190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74920" y="2029968"/>
            <a:ext cx="3200400" cy="3200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74920" y="20299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74920" y="2395728"/>
            <a:ext cx="3200400" cy="347472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2395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+ Kernel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74920" y="2779776"/>
            <a:ext cx="3200400" cy="29260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74920" y="2779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per app  ·  Minutes to start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246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per app  ·  Seconds to start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Containers share the host kernel. No guest OS overhead means near-native performance and millisecond startup.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 vs. VMs: The Numbers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28803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Virtual Machine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</a:rPr>
                        <a:t>Container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Includes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Full guest OS, kernel, libraries, app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Libraries, dependencies, app only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Gigabytes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Megabytes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Startup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30s – minutes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Milliseconds – seconds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Isolation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Strong (separate kernel)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Process-level (shared kernel)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Overhead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</a:rPr>
                        <a:t>Significant (guest OS memory/CPU)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Near-native performance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Best for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Different OS, strong security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App packaging, microservices, CI/CD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41605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analytics: spinning up 50 workers to process a large dataset — the difference between a 45-second VM boot and 2-second container start is the difference between waiting and barely noticing.</a:t>
            </a:r>
            <a:endParaRPr lang="en-US" sz="1100" dirty="0"/>
          </a:p>
        </p:txBody>
      </p:sp>
      <p:sp>
        <p:nvSpPr>
          <p:cNvPr id="4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Containers Work: Image Layers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= Stack of Read-Only Layers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Layer (per container)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92224"/>
            <a:ext cx="365760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7922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app.py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7922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KB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167128"/>
            <a:ext cx="3657600" cy="384048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1671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pip install ...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1671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3657600" cy="50292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606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python:3.12-slim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MB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2103120"/>
            <a:ext cx="73152" cy="1143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840480" cy="100584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14300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4924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Layers Are Cached &amp; Shared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8348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images using python:3.12-slim share that base layer on disk and in registry transfers.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46320" y="2194560"/>
            <a:ext cx="3840480" cy="118872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33172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4924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Order Matters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83480" y="2651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requirements.txt first, install, then copy code. Code changes only rebuild the last layer. Wrong order? Every edit re-downloads all dependencies.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846320" y="3566160"/>
            <a:ext cx="3840480" cy="77724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65760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4924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Immutable Artifacts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98348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v1 behaves identically whether pulled today or six months from now.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a Dockerfile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9377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365760"/>
          </a:xfrm>
          <a:prstGeom prst="rect">
            <a:avLst/>
          </a:prstGeom>
          <a:solidFill>
            <a:srgbClr val="4C1D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python:3.12-slim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2356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 (~150 MB vs ~900 MB full)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35608"/>
            <a:ext cx="49377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435608"/>
            <a:ext cx="54864" cy="36576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4356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23560" y="14356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working directory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865376"/>
            <a:ext cx="49377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1865376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18653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18653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deps file first (cache layer)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295144"/>
            <a:ext cx="49377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2295144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2951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-r requirements.txt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22951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packages (cached until deps change)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724912"/>
            <a:ext cx="49377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2724912"/>
            <a:ext cx="54864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2724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code last (changes most often)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154680"/>
            <a:ext cx="49377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" y="315468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useradd --create-home appuser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non-root user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584448"/>
            <a:ext cx="49377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8640" y="3584448"/>
            <a:ext cx="54864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35844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3584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limit blast radius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014216"/>
            <a:ext cx="49377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4014216"/>
            <a:ext cx="54864" cy="36576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40142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5000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23560" y="401421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only — doesn’t open the port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443984"/>
            <a:ext cx="4937760" cy="3657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8640" y="4443984"/>
            <a:ext cx="54864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4443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["gunicorn", ...]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23560" y="44439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server, not Flask dev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Registries: Build, Push, Pull, Run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280160" cy="118872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8308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011680" y="1188720"/>
            <a:ext cx="1280160" cy="118872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3258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0312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33756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566160" y="1188720"/>
            <a:ext cx="1280160" cy="118872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13258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Push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89204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120640" y="1188720"/>
            <a:ext cx="1280160" cy="118872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13258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(ECR / AR)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44652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675120" y="1188720"/>
            <a:ext cx="1280160" cy="118872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3258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66560" y="1737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Run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975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Registry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Platform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</a:rPr>
                        <a:t>Amazon ECR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AWS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Native ECS/EKS IAM integration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285F4"/>
                          </a:solidFill>
                        </a:rPr>
                        <a:t>Artifact Registry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GCP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Native GKE + IAM; supports Docker, Maven, npm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4D8"/>
                          </a:solidFill>
                        </a:rPr>
                        <a:t>Docker Hub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Neutral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Default public registry; base images live here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16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the “latest” tag in production. Tag images with explicit versions so deployments are reproducible.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Computing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distribution, message passing, and fault tolerance — 30 minutes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8404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Distribute Work?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182880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Vertical Scaling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600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bigger machine. More RAM, more cores. Physical ceiling: you can’t buy a single server with 10,000 cores.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Has a ceiling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840480" cy="182880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Horizontal Scaling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83480" y="16002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work across many machines. Coordination costs, but no theoretical ceiling. This is what Spark, BigQuery, and Redshift do.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8348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Scales out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772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Producer-Consumer Pattern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77240" y="36576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producer identifies units of work and puts them on a queue. Consumers independently pull work, process it, and write results to a shared store. Producers and consumers don’t know about each other and can scale independently.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Architecture: Producer → Queue → Workers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097280" cy="640080"/>
          </a:xfrm>
          <a:prstGeom prst="rect">
            <a:avLst/>
          </a:prstGeom>
          <a:solidFill>
            <a:srgbClr val="1E40A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GCS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463040"/>
            <a:ext cx="1005840" cy="6400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14630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97480" y="1600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463040"/>
            <a:ext cx="1371600" cy="640080"/>
          </a:xfrm>
          <a:prstGeom prst="rect">
            <a:avLst/>
          </a:prstGeom>
          <a:solidFill>
            <a:srgbClr val="00B4D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/ Pub/Sub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43400" y="16002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463040" cy="64008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(EC2 / GCE)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1600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463040"/>
            <a:ext cx="1188720" cy="64008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1463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09560" y="16002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1463040"/>
            <a:ext cx="822960" cy="6400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38160" y="1463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/ CF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2423160"/>
            <a:ext cx="1371600" cy="457200"/>
          </a:xfrm>
          <a:prstGeom prst="rect">
            <a:avLst/>
          </a:prstGeom>
          <a:solidFill>
            <a:srgbClr val="7F1D1D"/>
          </a:solidFill>
          <a:ln w="12700">
            <a:solidFill>
              <a:srgbClr val="F8717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0" y="2423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 Queue</a:t>
            </a:r>
            <a:endParaRPr lang="en-US" sz="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3 failures)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2560320" cy="137160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7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Visibility Timeout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hidden for 120s while processing. Worker finishes → deletes message. Worker crashes → message reappears.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383280" y="3200400"/>
            <a:ext cx="2560320" cy="137160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33756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9319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At-Least-Once Delivery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56616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processed at least once, possibly more if a crash occurs after processing but before deleting.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217920" y="3200400"/>
            <a:ext cx="2468880" cy="137160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337560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7665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400800" y="37033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twice must produce the same result. DynamoDB put_item is idempotent. “Increment a counter” is not.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Goes Wrong: Three Failure Scenarios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61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Crashes Mid-Task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dies 60s into processing a 90-second task. Visibility timeout expires. Message reappears. Another worker retries.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75120" y="1325880"/>
            <a:ext cx="173736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0" y="1325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via timeout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8046720" cy="105156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23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Crash After Processing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34440" y="2743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finishes and writes to DynamoDB, but crashes before deleting the SQS message. Message is reprocessed.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75120" y="2560320"/>
            <a:ext cx="173736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675120" y="2560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write → no harm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576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630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Poison Message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34440" y="3977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references a deleted S3 file. Worker fails, message returns, fails again. After 3 attempts, routed to Dead-Letter Queue.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675120" y="3794760"/>
            <a:ext cx="173736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675120" y="3794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isolates the problem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CAP Theorem (Brief Treatment)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03120" y="1325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sees the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write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gets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Partition Tolerance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continues despite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splits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783080"/>
            <a:ext cx="0" cy="114300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1920240" cy="114300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2926080"/>
            <a:ext cx="37490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0" y="1005840"/>
            <a:ext cx="3200400" cy="329184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0" y="1097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Practice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463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partitions are unavoidable in any real distributed system. The practical choice during a partition is between consistency and availability.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331720"/>
            <a:ext cx="2834640" cy="2743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eventual consistency (AP). Optional: strongly consistent reads at higher cost.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Spanner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520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consistency globally (CP) at a premium price point.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Discussion: Spot the Failure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 partner. For each scenario, identify what goes wrong and how the system recovers.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86868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41148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crashes 60 seconds into processing a 90-second task.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8046720" cy="86868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788920"/>
            <a:ext cx="411480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finishes processing and writes results to DynamoDB, but crashes before deleting the SQS message.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8046720" cy="86868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840480"/>
            <a:ext cx="411480" cy="41148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7947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contains a reference to an S3 file that was deleted.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map directly to the experiments you’ll run in the lab.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Kubernetes architecture diagram on screen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Orchestration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concepts, EKS vs. GKE, self-healing and scaling — 40 minutes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8404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 Containers Don’t Fill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solve packaging. They do not solve operations.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276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54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instances should run?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502920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7627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one crashes?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651760"/>
            <a:ext cx="502920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72491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update without downtime?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27355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worker find Redis?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3749040"/>
            <a:ext cx="5029200" cy="457200"/>
          </a:xfrm>
          <a:prstGeom prst="rect">
            <a:avLst/>
          </a:prstGeom>
          <a:solidFill>
            <a:srgbClr val="1C335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82219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3749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spread across machines?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7607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▶</a:t>
            </a:r>
            <a:endParaRPr lang="en-US" sz="2000" dirty="0"/>
          </a:p>
        </p:txBody>
      </p:sp>
      <p:sp>
        <p:nvSpPr>
          <p:cNvPr id="21" name="Shape 14"/>
          <p:cNvSpPr/>
          <p:nvPr/>
        </p:nvSpPr>
        <p:spPr>
          <a:xfrm>
            <a:off x="6217920" y="1554480"/>
            <a:ext cx="256032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640080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400800" y="21945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deployment, scaling, failure recovery, service discovery, and rolling updates across a cluster of machines.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SSHing into servers, watching dashboards, restarting processes — doesn’t scale.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Core Concepts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029200" cy="82296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1556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78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3898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deployable unit. One or more containers sharing network and storage.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1097280"/>
            <a:ext cx="292608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0" y="1143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running process on a server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993392"/>
            <a:ext cx="5029200" cy="82296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066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97280" y="23774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desired state: “I want 3 pods running image X:v2.” Controller continuously reconciles.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760720" y="2084832"/>
            <a:ext cx="292608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943600" y="213055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staffing plan that auto-hires replacements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2980944"/>
            <a:ext cx="5029200" cy="82296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906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0540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33649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DNS name and load balancer in front of a set of pods. Consumers connect to the name, not pod IPs.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60720" y="3072384"/>
            <a:ext cx="292608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5943600" y="31181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number that routes to whoever’s available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968496"/>
            <a:ext cx="5029200" cy="82296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7822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4041648"/>
            <a:ext cx="2270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PersistentVolumeClaim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097280" y="43525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durable storage that survives pod restarts. Backed by EBS (EKS) or Persistent Disk (GKE).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760720" y="4059936"/>
            <a:ext cx="292608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943600" y="41056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filing cabinet that stays when desks move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Declarative vs. Imperative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2286000"/>
          </a:xfrm>
          <a:prstGeom prst="rect">
            <a:avLst/>
          </a:prstGeom>
          <a:solidFill>
            <a:srgbClr val="1C1520"/>
          </a:solidFill>
          <a:ln w="1270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Imperative (“do this”)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server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latest image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old container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new container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it’s healthy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each server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840480" cy="2286000"/>
          </a:xfrm>
          <a:prstGeom prst="rect">
            <a:avLst/>
          </a:prstGeom>
          <a:solidFill>
            <a:srgbClr val="0C1F1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8348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Declarative (“make it look like this”)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83480" y="1600200"/>
            <a:ext cx="3383280" cy="1554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66360" y="16916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3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webapp:v2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readinessProbe: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httpGet: /health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reconciliation loop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931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the desired state. The Kubernetes controller watches the actual state, compares it to the desired state, and takes action to close the gap. This happens continuously — if a pod dies, the controller notices and creates a replacement without any human intervention.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Checks: Readiness vs. Liveness Probes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274320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43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 Probe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pod ready to receive traffic?”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fails, Kubernetes stops routing requests to the pod — but doesn’t kill it. The pod stays alive and can recover.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2560320"/>
            <a:ext cx="338328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“Stop sending traffic”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slow startup, temporary dependency outages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840480" cy="274320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430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Liveness Probe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983480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pod still functional?”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98348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fails repeatedly, Kubernetes kills and replaces the pod. Nuclear option for pods that are stuck or deadlocked.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983480" y="2560320"/>
            <a:ext cx="338328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98348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Fail: “Kill and replace”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98348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memory leaks, unrecoverable errors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example: the webapp’s /health endpoint checks the Redis connection. Redis down temporarily? Readiness fails (stop traffic). Process deadlocked? Liveness fails (restart pod).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Kubernetes: EKS vs. GKE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926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</a:rPr>
                        <a:t>Amazon EKS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285F4"/>
                          </a:solidFill>
                        </a:rPr>
                        <a:t>Google GKE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Control plane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$0.10/hr (~$73/mo)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Free (Autopilot) or $0.10/hr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Node mgmt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Managed node groups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Autopilot or Standard pools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Networking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VPC CNI (pods get VPC IPs)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VPC-native with alias IPs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Load balancer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AWS ALB or NLB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Google Cloud Load Balancer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Registry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Amazon ECR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Artifact Registry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IAM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IRSA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Workload Identity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Monitoring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CloudWatch Container Insights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Cloud Monitoring (built-in)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kubectl commands, same YAML manifests, same pod/service abstractions. Differences are in cloud-native integrations: IAM, load balancers, storage backends.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Demo: Self-Healing and Scaling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43891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1247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1051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worker pods running across two nodes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43891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178308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pod worker-xxx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85623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 worker. Immediately watch: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514600"/>
            <a:ext cx="43891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48640" y="251460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77240" y="2514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-w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58775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8640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Terminating → Pending → ContainerCreating → Running (~5s)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246120"/>
            <a:ext cx="43891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48640" y="324612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777240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 worker --replicas=4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31927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86400" y="3246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pods appear across both nodes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3977640"/>
            <a:ext cx="438912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777240" y="3977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 worker --replicas=1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405079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pods terminate, one survives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/>
          <p:nvPr/>
        </p:nvSpPr>
        <p:spPr>
          <a:xfrm>
            <a:off x="777240" y="40233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SQS visibility timeout = 120 seconds to recover.  Kubernetes pod replacement = ~5 seconds.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Cloud-Native Alternatives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3716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Fargate, Cloud Run, managed queues, and when to use what — 30 minutes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8404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Deployment Spectrum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315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256032" cy="256032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34840" y="1097280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109728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Control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Operational Work 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2743200" cy="256032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2743200" cy="54864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VMs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/ Compute Engine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606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807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runtime, scaling, failure recovery, monitoring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291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manages: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only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Per-instance-hour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828800"/>
            <a:ext cx="2743200" cy="256032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182880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Kubernetes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/ GKE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606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2807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scaling policies, pod definitions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291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manages: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37560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plane, node health, scheduling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Per-node-hour + control plane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828800"/>
            <a:ext cx="2743200" cy="256032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182880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6364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Serverless Containers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6364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Fargate / Cloud Run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2606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2807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only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291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manages: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Everything: nodes, scaling, networking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or per-second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 Service Map: AWS ↔ GCP</a:t>
            </a:r>
            <a:endParaRPr lang="en-US" sz="2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34747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Function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900"/>
                          </a:solidFill>
                        </a:rPr>
                        <a:t>AWS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285F4"/>
                          </a:solidFill>
                        </a:rPr>
                        <a:t>Google Cloud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3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Container orchestration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EKS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GKE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Serverless containers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Fargate / Lambda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Cloud Run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Container registry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ECR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Artifact Registry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Message queue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SQS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Cloud Pub/Sub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NoSQL database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DynamoDB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Firestore / Bigtable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Object storage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Cloud Storage (GCS)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Serverless functions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Lambda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Cloud Functions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Monitoring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CloudWatch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Cloud Monitoring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Workflow orchestration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Step Functions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Workflows / Composer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the Right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Nightly ETL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10 GB of CSV files into a data warehouse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daily. Scale-to-zero minimizes cost.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12080" y="1280160"/>
            <a:ext cx="32004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0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job or Fargate task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8046720" cy="109728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Stream Processing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651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events/second from IoT sensors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throughput needs pre-warmed capacity. Fargate cold-start is too slow.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2560320"/>
            <a:ext cx="32004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2560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with HPA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864" cy="109728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657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Ad-Hoc Data Science + GPUs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931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library stacks, GPU compute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solve deps. GPU scheduling is complex; managed platforms handle it.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840480"/>
            <a:ext cx="320040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3840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GPU node pools or SageMaker/Vertex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Discussion: Design an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receives 5,000 PDF documents per day from a partner. Each document needs OCR, text extraction, NLP classification, and storage in a search index. Documents range from 1 to 200 pages. Processing takes 5 seconds to 3 minutes per document.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pipeline using AWS or GCP services. Sketch it with a partner (3–4 min).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Consider: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documents enter the pipeline?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work distributed across processors?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200-page PDF causes a timeout?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compute model fits this workload pattern?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00584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502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298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freeze the entire runtime environment into an immutable artifact. Same image, same behavior, everywhere.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046720" cy="100584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487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Recovery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fail. The question is whether they recover automatically (Kubernetes, message queues) or require manual intervention.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675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Right Tradeoff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→ Kubernetes → Serverless: each step trades control for operational simplicity. Choose based on workload, team size, and infrastructure appetite.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Preview: What You’ll Build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292608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Distributed Computing Lab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+ EC2 + DynamoDB + Lambda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build the producer-consumer pipeline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workers and watch SQS retry (120s)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poison messages → observe DLQ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workers, measure throughput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operational complexity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2926080"/>
          </a:xfrm>
          <a:prstGeom prst="rect">
            <a:avLst/>
          </a:prstGeom>
          <a:solidFill>
            <a:srgbClr val="1C3354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84048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Containerization &amp; K8s Lab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ECR + EKS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the same application pattern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EKS, watch self-healing (~5s)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one command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with automatic rollback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what did K8s automate?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between these two labs is the central question on the lab report.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2423160"/>
            <a:ext cx="9144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would I use Kubernetes instead of Fargate/Cloud Run?”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run Spark in containers?”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I need Docker if I’m using SageMaker/Vertex AI?”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2442</Words>
  <Application>Microsoft Macintosh PowerPoint</Application>
  <PresentationFormat>On-screen Show (16:9)</PresentationFormat>
  <Paragraphs>475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Containerization and Distributed Computing</dc:title>
  <dc:subject>PptxGenJS Presentation</dc:subject>
  <dc:creator>Cloud Computing for Data Analytics</dc:creator>
  <cp:lastModifiedBy>Frazier Smith</cp:lastModifiedBy>
  <cp:revision>2</cp:revision>
  <dcterms:created xsi:type="dcterms:W3CDTF">2026-02-15T18:23:49Z</dcterms:created>
  <dcterms:modified xsi:type="dcterms:W3CDTF">2026-02-15T18:52:54Z</dcterms:modified>
</cp:coreProperties>
</file>